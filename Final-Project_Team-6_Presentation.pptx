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09728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E59139"/>
                </a:solidFill>
                <a:latin typeface="Aptos"/>
              </a:defRPr>
            </a:pPr>
            <a:r>
              <a:t>AAI-540  |  GROUP 6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060704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GenAI Workload Power Demand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907792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 b="0">
                <a:solidFill>
                  <a:srgbClr val="D0E0EB"/>
                </a:solidFill>
                <a:latin typeface="Aptos"/>
              </a:defRPr>
            </a:pPr>
            <a:r>
              <a:t>From execution traces to power-aware infrastructure scheduling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86200"/>
            <a:ext cx="1325880" cy="64008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32D46"/>
                </a:solidFill>
                <a:latin typeface="Aptos"/>
              </a:defRPr>
            </a:pPr>
            <a:r>
              <a:t>EDA and preprocessing of the NLR power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05840" cy="54864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C6C78"/>
                </a:solidFill>
                <a:latin typeface="Aptos"/>
              </a:defRPr>
            </a:pPr>
            <a:r>
              <a:t>The data foundation: execution-level power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C6C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2560320" cy="91440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664207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2,424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84831"/>
            <a:ext cx="2414015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valid inference executions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560320" cy="91440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0712" y="1664207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084831"/>
            <a:ext cx="2414015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pre-execution predictors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54480"/>
            <a:ext cx="2560320" cy="91440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1664207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70 / 15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084831"/>
            <a:ext cx="2414015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train / validation /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54480"/>
            <a:ext cx="2560320" cy="91440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97112" y="1664207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2084831"/>
            <a:ext cx="2414015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processed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88920"/>
            <a:ext cx="5303520" cy="242316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2788920"/>
            <a:ext cx="64008" cy="2423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2907791"/>
            <a:ext cx="49834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32D46"/>
                </a:solidFill>
                <a:latin typeface="Aptos"/>
              </a:defRPr>
            </a:pPr>
            <a:r>
              <a:t>EDA findings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319272"/>
            <a:ext cx="4956048" cy="180136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2B3741"/>
                </a:solidFill>
                <a:latin typeface="Aptos"/>
              </a:defRPr>
            </a:pPr>
            <a:r>
              <a:t>• Five workload groups were examined.</a:t>
            </a:r>
            <a:br/>
            <a:r>
              <a:t>• Parquet power traces matched metadata for all three inference workloads.</a:t>
            </a:r>
            <a:br/>
            <a:r>
              <a:t>• Power increased with batch size and request rate, then levelled off.</a:t>
            </a:r>
            <a:br/>
            <a:r>
              <a:t>• Two incomplete online-finite runs were excluded.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788920"/>
            <a:ext cx="5303520" cy="242316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788920"/>
            <a:ext cx="64008" cy="2423160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907791"/>
            <a:ext cx="498348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32D46"/>
                </a:solidFill>
                <a:latin typeface="Aptos"/>
              </a:defRPr>
            </a:pPr>
            <a:r>
              <a:t>Preprocessing and leakage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19272"/>
            <a:ext cx="4956048" cy="180136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2B3741"/>
                </a:solidFill>
                <a:latin typeface="Aptos"/>
              </a:defRPr>
            </a:pPr>
            <a:r>
              <a:t>• Target: mean_power_w.</a:t>
            </a:r>
            <a:br/>
            <a:r>
              <a:t>• Six predictors retained; outcome fields and identifiers excluded.</a:t>
            </a:r>
            <a:br/>
            <a:r>
              <a:t>• Stratified split by workload type: 1,696 / 364 / 364 rows.</a:t>
            </a:r>
            <a:br/>
            <a:r>
              <a:t>• Median imputation, missingness indicators, scaling and one-hot encoding; fit on training data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32D46"/>
                </a:solidFill>
                <a:latin typeface="Aptos"/>
              </a:defRPr>
            </a:pPr>
            <a:r>
              <a:rPr dirty="0"/>
              <a:t>Power prediction model: strong performance</a:t>
            </a:r>
            <a:r>
              <a:rPr lang="en-IN" dirty="0"/>
              <a:t> on unseen workloads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05840" cy="54864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C6C78"/>
                </a:solidFill>
                <a:latin typeface="Aptos"/>
              </a:defRPr>
            </a:pPr>
            <a:r>
              <a:rPr lang="en-GB" dirty="0"/>
              <a:t>Random Forest selected for deployment after model benchmarking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C6C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560320" cy="91440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1618488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37.61 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2039112"/>
            <a:ext cx="2414015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T</a:t>
            </a:r>
            <a:r>
              <a:rPr dirty="0"/>
              <a:t>est RMSE</a:t>
            </a:r>
            <a:r>
              <a:rPr lang="en-IN" dirty="0"/>
              <a:t> - </a:t>
            </a:r>
            <a:r>
              <a:rPr lang="en-IN" sz="1000" dirty="0">
                <a:solidFill>
                  <a:srgbClr val="FFFFFF"/>
                </a:solidFill>
                <a:latin typeface="Aptos"/>
              </a:rPr>
              <a:t>Penalizes larger errors</a:t>
            </a:r>
          </a:p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383280" y="1508760"/>
            <a:ext cx="2560320" cy="91440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1618488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25.10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039112"/>
            <a:ext cx="2414015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T</a:t>
            </a:r>
            <a:r>
              <a:rPr dirty="0"/>
              <a:t>est MAE</a:t>
            </a:r>
            <a:r>
              <a:rPr lang="en-IN" dirty="0"/>
              <a:t> - </a:t>
            </a:r>
            <a:r>
              <a:rPr lang="en-IN" sz="1000" dirty="0">
                <a:solidFill>
                  <a:srgbClr val="FFFFFF"/>
                </a:solidFill>
                <a:latin typeface="Aptos"/>
              </a:rPr>
              <a:t>Average absolute error</a:t>
            </a:r>
          </a:p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2560320" cy="91440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1618488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0.9599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039112"/>
            <a:ext cx="2414015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T</a:t>
            </a:r>
            <a:r>
              <a:rPr dirty="0"/>
              <a:t>est R²</a:t>
            </a:r>
            <a:r>
              <a:rPr lang="en-IN" dirty="0"/>
              <a:t> - </a:t>
            </a:r>
            <a:r>
              <a:rPr lang="en-IN" sz="1000" dirty="0">
                <a:solidFill>
                  <a:srgbClr val="FFFFFF"/>
                </a:solidFill>
                <a:latin typeface="Aptos"/>
              </a:rPr>
              <a:t>Explains ~96% of test-set variance</a:t>
            </a:r>
          </a:p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869680" y="1508760"/>
            <a:ext cx="2560320" cy="91440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42832" y="1618488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0.97%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2039112"/>
            <a:ext cx="2414015" cy="5539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rPr dirty="0"/>
              <a:t>MAE / </a:t>
            </a:r>
            <a:r>
              <a:rPr lang="en-IN" dirty="0"/>
              <a:t>M</a:t>
            </a:r>
            <a:r>
              <a:rPr dirty="0" err="1"/>
              <a:t>ean</a:t>
            </a:r>
            <a:r>
              <a:rPr lang="en-IN" dirty="0"/>
              <a:t> T</a:t>
            </a:r>
            <a:r>
              <a:rPr dirty="0" err="1"/>
              <a:t>arget</a:t>
            </a:r>
            <a:r>
              <a:rPr lang="en-IN" dirty="0"/>
              <a:t> - </a:t>
            </a:r>
            <a:r>
              <a:rPr lang="en-IN" sz="1000" dirty="0">
                <a:solidFill>
                  <a:srgbClr val="FFFFFF"/>
                </a:solidFill>
                <a:latin typeface="Aptos"/>
              </a:rPr>
              <a:t>Error relative to mean power</a:t>
            </a:r>
          </a:p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2788920"/>
            <a:ext cx="5120640" cy="233172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788920"/>
            <a:ext cx="64008" cy="233172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907791"/>
            <a:ext cx="480060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32D46"/>
                </a:solidFill>
                <a:latin typeface="Aptos"/>
              </a:defRPr>
            </a:pPr>
            <a:r>
              <a:rPr lang="en-GB" dirty="0"/>
              <a:t>What the results tell us-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914400" y="3319272"/>
            <a:ext cx="4773168" cy="181588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2B3741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Av</a:t>
            </a:r>
            <a:r>
              <a:rPr lang="en-GB" dirty="0" err="1"/>
              <a:t>erage</a:t>
            </a:r>
            <a:r>
              <a:rPr lang="en-GB" dirty="0"/>
              <a:t> absolute prediction error is approximately 25 W per execution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Tes</a:t>
            </a:r>
            <a:r>
              <a:rPr lang="en-IN" sz="1400" dirty="0">
                <a:solidFill>
                  <a:srgbClr val="2B3741"/>
                </a:solidFill>
                <a:latin typeface="Aptos"/>
              </a:rPr>
              <a:t>t R² of 0.9599 indicates strong explanatory performance on held-out data.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Res</a:t>
            </a:r>
            <a:r>
              <a:rPr lang="en-GB" dirty="0" err="1"/>
              <a:t>ults</a:t>
            </a:r>
            <a:r>
              <a:rPr lang="en-GB" dirty="0"/>
              <a:t> support using the model as a power-estimation component in our scheduler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en-IN" dirty="0"/>
              <a:t>Hel</a:t>
            </a:r>
            <a:r>
              <a:rPr lang="en-GB" dirty="0"/>
              <a:t>d-out performance is evidence of generalization, not a production guarantee</a:t>
            </a:r>
            <a:r>
              <a:rPr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788920"/>
            <a:ext cx="5212080" cy="233172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2788920"/>
            <a:ext cx="64008" cy="2331720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907791"/>
            <a:ext cx="48920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32D46"/>
                </a:solidFill>
                <a:latin typeface="Aptos"/>
              </a:defRPr>
            </a:pPr>
            <a:r>
              <a:rPr lang="en-IN" dirty="0"/>
              <a:t>Why Random Forest?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309360" y="3319272"/>
            <a:ext cx="4864608" cy="129266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dirty="0"/>
              <a:t>• Tuned Random Forest: RMSE 37.20 W, MAE 24.74 W, R² 0.9605.</a:t>
            </a:r>
            <a:br>
              <a:rPr dirty="0"/>
            </a:br>
            <a:r>
              <a:rPr dirty="0"/>
              <a:t>• Tuned </a:t>
            </a:r>
            <a:r>
              <a:rPr dirty="0" err="1"/>
              <a:t>XGBoost</a:t>
            </a:r>
            <a:r>
              <a:rPr dirty="0"/>
              <a:t>: RMSE 37.25 W, MAE 25.27 W, R² 0.9604.</a:t>
            </a:r>
            <a:br>
              <a:rPr dirty="0"/>
            </a:br>
            <a:r>
              <a:rPr dirty="0"/>
              <a:t>• </a:t>
            </a:r>
            <a:r>
              <a:rPr lang="en-GB" dirty="0"/>
              <a:t>Linear regression and mean baselines performed materially worse</a:t>
            </a:r>
            <a:r>
              <a:rPr dirty="0"/>
              <a:t>.</a:t>
            </a:r>
            <a:br>
              <a:rPr dirty="0"/>
            </a:br>
            <a:r>
              <a:rPr dirty="0"/>
              <a:t>• </a:t>
            </a:r>
            <a:r>
              <a:rPr lang="en-GB" dirty="0"/>
              <a:t>Random Forest was retained for deployment, with performance comparable to </a:t>
            </a:r>
            <a:r>
              <a:rPr lang="en-GB" dirty="0" err="1"/>
              <a:t>XGBoost</a:t>
            </a:r>
            <a:r>
              <a:rPr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" y="5421052"/>
            <a:ext cx="107899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C6C78"/>
                </a:solidFill>
                <a:latin typeface="Aptos"/>
              </a:defRPr>
            </a:pPr>
            <a:r>
              <a:rPr lang="en-GB" dirty="0"/>
              <a:t>Evaluation basis: 364 held-out test executions. Performance varies by workload; online-finite inference had the lowest subgroup R² (0.879)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243E18-4CC9-7121-8B12-CB65B96F142C}"/>
              </a:ext>
            </a:extLst>
          </p:cNvPr>
          <p:cNvSpPr txBox="1"/>
          <p:nvPr/>
        </p:nvSpPr>
        <p:spPr>
          <a:xfrm>
            <a:off x="795528" y="5781124"/>
            <a:ext cx="10757916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defRPr sz="1200" b="0">
                <a:solidFill>
                  <a:srgbClr val="5C6C78"/>
                </a:solidFill>
                <a:latin typeface="Aptos"/>
              </a:defRPr>
            </a:lvl1pPr>
          </a:lstStyle>
          <a:p>
            <a:r>
              <a:rPr lang="en-IN" b="1" dirty="0"/>
              <a:t>Note:</a:t>
            </a:r>
            <a:r>
              <a:rPr lang="en-IN" dirty="0"/>
              <a:t> Our Random Forest model achieved an R² of approximately 0.96 on 364 unseen executions, with an average absolute error of about 25 watts—giving us a promising prediction component to integrate into power-aware scheduling.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32D46"/>
                </a:solidFill>
                <a:latin typeface="Aptos"/>
              </a:defRPr>
            </a:pPr>
            <a:r>
              <a:t>End-to-end workflow: from traces to a usable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05840" cy="54864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C6C78"/>
                </a:solidFill>
                <a:latin typeface="Aptos"/>
              </a:defRPr>
            </a:pPr>
            <a:r>
              <a:t>Model artifact and fitted preprocessing are deployed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C6C7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063240" cy="13258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64008" cy="13258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743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32D46"/>
                </a:solidFill>
                <a:latin typeface="Aptos"/>
              </a:defRPr>
            </a:pPr>
            <a:r>
              <a:rPr dirty="0"/>
              <a:t>1. NLR </a:t>
            </a:r>
            <a:r>
              <a:rPr lang="en-IN" dirty="0"/>
              <a:t>workload </a:t>
            </a:r>
            <a:r>
              <a:rPr dirty="0"/>
              <a:t>traces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2715768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741"/>
                </a:solidFill>
                <a:latin typeface="Aptos"/>
              </a:defRPr>
            </a:pPr>
            <a:r>
              <a:rPr lang="en-GB" dirty="0"/>
              <a:t>Workload metadata + measured power traces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160520" y="1600200"/>
            <a:ext cx="3063240" cy="13258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600200"/>
            <a:ext cx="64008" cy="1325880"/>
          </a:xfrm>
          <a:prstGeom prst="rect">
            <a:avLst/>
          </a:prstGeom>
          <a:solidFill>
            <a:srgbClr val="215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719072"/>
            <a:ext cx="2743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32D46"/>
                </a:solidFill>
                <a:latin typeface="Aptos"/>
              </a:defRPr>
            </a:pPr>
            <a:r>
              <a:rPr dirty="0"/>
              <a:t>2. </a:t>
            </a:r>
            <a:r>
              <a:rPr lang="en-IN" dirty="0"/>
              <a:t>Data </a:t>
            </a:r>
            <a:r>
              <a:rPr dirty="0"/>
              <a:t>curation</a:t>
            </a:r>
            <a:r>
              <a:rPr lang="en-IN" dirty="0"/>
              <a:t> &amp; quality checks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343400" y="2130552"/>
            <a:ext cx="2715768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741"/>
                </a:solidFill>
                <a:latin typeface="Aptos"/>
              </a:defRPr>
            </a:pPr>
            <a:r>
              <a:rPr dirty="0"/>
              <a:t>2,424 valid </a:t>
            </a:r>
            <a:r>
              <a:rPr lang="en-IN" dirty="0"/>
              <a:t>inference </a:t>
            </a:r>
            <a:r>
              <a:rPr dirty="0"/>
              <a:t>executions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600200"/>
            <a:ext cx="3063240" cy="13258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79" y="1600200"/>
            <a:ext cx="64008" cy="1325880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59" y="1719072"/>
            <a:ext cx="2743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32D46"/>
                </a:solidFill>
                <a:latin typeface="Aptos"/>
              </a:defRPr>
            </a:pPr>
            <a:r>
              <a:rPr dirty="0"/>
              <a:t>3. </a:t>
            </a:r>
            <a:r>
              <a:rPr lang="en-IN" dirty="0"/>
              <a:t>Leakage-safe </a:t>
            </a:r>
            <a:r>
              <a:rPr dirty="0"/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59" y="2130552"/>
            <a:ext cx="2715768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741"/>
                </a:solidFill>
                <a:latin typeface="Aptos"/>
              </a:defRPr>
            </a:pPr>
            <a:r>
              <a:rPr lang="en-GB" dirty="0"/>
              <a:t>Transformations fitted on training data only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" y="3794760"/>
            <a:ext cx="3063240" cy="13258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794760"/>
            <a:ext cx="64008" cy="13258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913632"/>
            <a:ext cx="27432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32D46"/>
                </a:solidFill>
                <a:latin typeface="Aptos"/>
              </a:defRPr>
            </a:pPr>
            <a:r>
              <a:rPr lang="en-GB" dirty="0"/>
              <a:t>4. Train &amp; evaluate the power model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77240" y="4458338"/>
            <a:ext cx="2715768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741"/>
                </a:solidFill>
                <a:latin typeface="Aptos"/>
              </a:defRPr>
            </a:pPr>
            <a:r>
              <a:rPr dirty="0"/>
              <a:t>Random Forest + held-out test</a:t>
            </a:r>
            <a:r>
              <a:rPr lang="en-IN" dirty="0"/>
              <a:t> evaluation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4160520" y="3794760"/>
            <a:ext cx="3063240" cy="13258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794760"/>
            <a:ext cx="64008" cy="1325880"/>
          </a:xfrm>
          <a:prstGeom prst="rect">
            <a:avLst/>
          </a:prstGeom>
          <a:solidFill>
            <a:srgbClr val="215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913632"/>
            <a:ext cx="2743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32D46"/>
                </a:solidFill>
                <a:latin typeface="Aptos"/>
              </a:defRPr>
            </a:pPr>
            <a:r>
              <a:rPr dirty="0"/>
              <a:t>5. </a:t>
            </a:r>
            <a:r>
              <a:rPr lang="en-IN" dirty="0"/>
              <a:t>Deploy &amp; validate inference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4343400" y="4325112"/>
            <a:ext cx="2715768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741"/>
                </a:solidFill>
                <a:latin typeface="Aptos"/>
              </a:defRPr>
            </a:pPr>
            <a:r>
              <a:rPr dirty="0"/>
              <a:t>Raw </a:t>
            </a:r>
            <a:r>
              <a:rPr lang="en-IN" dirty="0"/>
              <a:t>workload </a:t>
            </a:r>
            <a:r>
              <a:rPr dirty="0"/>
              <a:t>JSON</a:t>
            </a:r>
            <a:r>
              <a:rPr lang="en-IN" dirty="0"/>
              <a:t> -&gt; fitted preprocessing -&gt; predicted power(W)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7726679" y="3794760"/>
            <a:ext cx="3063240" cy="132588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26679" y="3794760"/>
            <a:ext cx="64008" cy="1325880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59" y="3913632"/>
            <a:ext cx="2743200" cy="523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32D46"/>
                </a:solidFill>
                <a:latin typeface="Aptos"/>
              </a:defRPr>
            </a:pPr>
            <a:r>
              <a:rPr dirty="0"/>
              <a:t>6. </a:t>
            </a:r>
            <a:r>
              <a:rPr lang="en-IN" dirty="0"/>
              <a:t>Power-aware scheduling simulation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7909559" y="4325112"/>
            <a:ext cx="2715768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741"/>
                </a:solidFill>
                <a:latin typeface="Aptos"/>
              </a:defRPr>
            </a:pPr>
            <a:endParaRPr lang="en-IN" dirty="0"/>
          </a:p>
          <a:p>
            <a:pPr>
              <a:defRPr sz="1200" b="0">
                <a:solidFill>
                  <a:srgbClr val="2B3741"/>
                </a:solidFill>
                <a:latin typeface="Aptos"/>
              </a:defRPr>
            </a:pPr>
            <a:r>
              <a:rPr dirty="0"/>
              <a:t>Predicted power </a:t>
            </a:r>
            <a:r>
              <a:rPr lang="en-IN" dirty="0"/>
              <a:t>-&gt; workload selection under a power budget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3703320" y="2057400"/>
            <a:ext cx="38404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057400"/>
            <a:ext cx="38404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286" y="3392047"/>
            <a:ext cx="21945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E59139"/>
                </a:solidFill>
                <a:latin typeface="Aptos"/>
              </a:defRPr>
            </a:pPr>
            <a:r>
              <a:rPr dirty="0"/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60720"/>
            <a:ext cx="10789920" cy="2923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1">
                <a:solidFill>
                  <a:srgbClr val="132D46"/>
                </a:solidFill>
                <a:latin typeface="Aptos"/>
              </a:defRPr>
            </a:pPr>
            <a:r>
              <a:rPr lang="en-GB" dirty="0"/>
              <a:t>Core principle: Decisions use predicted power; measured power is used afterward to evaluate scheduling outcomes.</a:t>
            </a:r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1E4B88-3149-EA48-84E2-C881EACE291D}"/>
              </a:ext>
            </a:extLst>
          </p:cNvPr>
          <p:cNvSpPr txBox="1"/>
          <p:nvPr/>
        </p:nvSpPr>
        <p:spPr>
          <a:xfrm>
            <a:off x="3710380" y="4292931"/>
            <a:ext cx="38404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ADA7E5-E074-B856-9304-F953720A2891}"/>
              </a:ext>
            </a:extLst>
          </p:cNvPr>
          <p:cNvSpPr txBox="1"/>
          <p:nvPr/>
        </p:nvSpPr>
        <p:spPr>
          <a:xfrm>
            <a:off x="7276540" y="4292931"/>
            <a:ext cx="384048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59139"/>
                </a:solidFill>
                <a:latin typeface="Aptos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32D46"/>
                </a:solidFill>
                <a:latin typeface="Aptos"/>
              </a:defRPr>
            </a:pPr>
            <a:r>
              <a:rPr dirty="0"/>
              <a:t>SageMaker deployment: </a:t>
            </a:r>
            <a:r>
              <a:rPr lang="en-GB" dirty="0"/>
              <a:t>from trained model to validated inference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0352" y="850392"/>
            <a:ext cx="1005840" cy="54864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C6C78"/>
                </a:solidFill>
                <a:latin typeface="Aptos"/>
              </a:defRPr>
            </a:pPr>
            <a:r>
              <a:rPr lang="en-GB" dirty="0"/>
              <a:t>Operationalizing the Random Forest model and verifying the live prediction path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384280" y="6510528"/>
            <a:ext cx="32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C6C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520440" cy="182880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8288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627631"/>
            <a:ext cx="32004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32D46"/>
                </a:solidFill>
                <a:latin typeface="Aptos"/>
              </a:defRPr>
            </a:pPr>
            <a:r>
              <a:rPr dirty="0"/>
              <a:t>Package</a:t>
            </a:r>
            <a:r>
              <a:rPr lang="en-IN" dirty="0"/>
              <a:t> the model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2959" y="2039112"/>
            <a:ext cx="3172968" cy="10926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Trained Random Forest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Fitted preprocessing pipeline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Inference request/response handlers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Model artifacts uploaded to S3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82880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64008" cy="1828800"/>
          </a:xfrm>
          <a:prstGeom prst="rect">
            <a:avLst/>
          </a:prstGeom>
          <a:solidFill>
            <a:srgbClr val="215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627631"/>
            <a:ext cx="32004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32D46"/>
                </a:solidFill>
                <a:latin typeface="Aptos"/>
              </a:defRPr>
            </a:pPr>
            <a:r>
              <a:rPr lang="en-IN" dirty="0"/>
              <a:t>Deploy the service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526280" y="2039112"/>
            <a:ext cx="3172968" cy="8925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SageMaker scikit-learn container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Model and endpoint configuration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Endpoint reached </a:t>
            </a:r>
            <a:r>
              <a:rPr lang="en-GB" dirty="0" err="1"/>
              <a:t>InService</a:t>
            </a:r>
            <a:endParaRPr lang="en-GB" dirty="0"/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520440" cy="1828800"/>
          </a:xfrm>
          <a:prstGeom prst="roundRect">
            <a:avLst/>
          </a:prstGeom>
          <a:solidFill>
            <a:srgbClr val="F1F6F9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64008" cy="1828800"/>
          </a:xfrm>
          <a:prstGeom prst="rect">
            <a:avLst/>
          </a:prstGeom>
          <a:solidFill>
            <a:srgbClr val="E59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1"/>
            <a:ext cx="320040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500" b="1">
                <a:solidFill>
                  <a:srgbClr val="132D46"/>
                </a:solidFill>
                <a:latin typeface="Aptos"/>
              </a:defRPr>
            </a:pPr>
            <a:r>
              <a:rPr lang="en-IN" dirty="0"/>
              <a:t>Validate live inference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0" y="2039112"/>
            <a:ext cx="3172968" cy="10926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Submit raw workload JSON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Return predicted mean power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GB" dirty="0"/>
              <a:t>Compare with notebook output for the same held-out row</a:t>
            </a:r>
          </a:p>
          <a:p>
            <a:pPr>
              <a:defRPr sz="1300" b="0">
                <a:solidFill>
                  <a:srgbClr val="2B3741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14400" y="3886200"/>
            <a:ext cx="10332720" cy="1234440"/>
          </a:xfrm>
          <a:prstGeom prst="roundRect">
            <a:avLst/>
          </a:prstGeom>
          <a:solidFill>
            <a:srgbClr val="1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4096512"/>
            <a:ext cx="9784080" cy="3539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Notebook: 2,258.6723 W   |   </a:t>
            </a:r>
            <a:r>
              <a:rPr lang="en-IN" dirty="0"/>
              <a:t>LIVE </a:t>
            </a:r>
            <a:r>
              <a:rPr dirty="0"/>
              <a:t>Endpoint: 2,258.6723 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645152"/>
            <a:ext cx="9784080" cy="6924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E59139"/>
                </a:solidFill>
                <a:latin typeface="Aptos"/>
              </a:defRPr>
            </a:pPr>
            <a:r>
              <a:rPr dirty="0"/>
              <a:t>Absolute difference for this test row: 0.0 W</a:t>
            </a:r>
            <a:endParaRPr lang="en-IN" dirty="0"/>
          </a:p>
          <a:p>
            <a:pPr algn="ctr">
              <a:defRPr sz="1300" b="1">
                <a:solidFill>
                  <a:srgbClr val="E59139"/>
                </a:solidFill>
                <a:latin typeface="Aptos"/>
              </a:defRPr>
            </a:pPr>
            <a:r>
              <a:rPr lang="en-IN" sz="1300" b="1" dirty="0">
                <a:solidFill>
                  <a:srgbClr val="E59139"/>
                </a:solidFill>
                <a:latin typeface="Aptos"/>
              </a:rPr>
              <a:t>Exact prediction match for the tested request</a:t>
            </a:r>
          </a:p>
          <a:p>
            <a:pPr algn="ctr">
              <a:defRPr sz="1300" b="1">
                <a:solidFill>
                  <a:srgbClr val="E59139"/>
                </a:solidFill>
                <a:latin typeface="Aptos"/>
              </a:defRPr>
            </a:pP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105156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5C6C78"/>
                </a:solidFill>
                <a:latin typeface="Aptos"/>
              </a:defRPr>
            </a:pPr>
            <a:r>
              <a:rPr lang="en-GB" dirty="0"/>
              <a:t>Validation scope: confirms prediction consistency for one test row; does not establish production reliability, scalability, or long-term drift performance.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2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700" b="1">
                <a:solidFill>
                  <a:srgbClr val="15314B"/>
                </a:solidFill>
                <a:latin typeface="Aptos"/>
              </a:defRPr>
            </a:pPr>
            <a:r>
              <a:rPr dirty="0"/>
              <a:t>From </a:t>
            </a:r>
            <a:r>
              <a:rPr lang="en-IN" dirty="0"/>
              <a:t>P</a:t>
            </a:r>
            <a:r>
              <a:rPr dirty="0" err="1"/>
              <a:t>ower</a:t>
            </a:r>
            <a:r>
              <a:rPr dirty="0"/>
              <a:t> </a:t>
            </a:r>
            <a:r>
              <a:rPr lang="en-IN" dirty="0"/>
              <a:t>P</a:t>
            </a:r>
            <a:r>
              <a:rPr dirty="0" err="1"/>
              <a:t>rediction</a:t>
            </a:r>
            <a:r>
              <a:rPr dirty="0"/>
              <a:t> to </a:t>
            </a:r>
            <a:r>
              <a:rPr lang="en-IN" dirty="0"/>
              <a:t>P</a:t>
            </a:r>
            <a:r>
              <a:rPr dirty="0" err="1"/>
              <a:t>ower</a:t>
            </a:r>
            <a:r>
              <a:rPr dirty="0"/>
              <a:t>-</a:t>
            </a:r>
            <a:r>
              <a:rPr lang="en-IN" dirty="0"/>
              <a:t>A</a:t>
            </a:r>
            <a:r>
              <a:rPr dirty="0"/>
              <a:t>ware </a:t>
            </a:r>
            <a:r>
              <a:rPr lang="en-IN" dirty="0"/>
              <a:t>S</a:t>
            </a:r>
            <a:r>
              <a:rPr dirty="0" err="1"/>
              <a:t>cheduling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024128" cy="50292"/>
          </a:xfrm>
          <a:prstGeom prst="rect">
            <a:avLst/>
          </a:prstGeom>
          <a:solidFill>
            <a:srgbClr val="EF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9728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5E6C77"/>
                </a:solidFill>
                <a:latin typeface="Aptos"/>
              </a:defRPr>
            </a:pPr>
            <a:r>
              <a:t>A transparent heuristic uses estimated demand to select workloads under a simulated power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0">
                <a:solidFill>
                  <a:srgbClr val="5E6C7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331720" cy="1572768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68580" cy="1536192"/>
          </a:xfrm>
          <a:prstGeom prst="rect">
            <a:avLst/>
          </a:prstGeom>
          <a:solidFill>
            <a:srgbClr val="0A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947672"/>
            <a:ext cx="198424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1. Candidate 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1938527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364 held-out test executions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Each has predicted and measured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828800"/>
            <a:ext cx="2331720" cy="1572768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847088"/>
            <a:ext cx="68580" cy="1536192"/>
          </a:xfrm>
          <a:prstGeom prst="rect">
            <a:avLst/>
          </a:prstGeom>
          <a:solidFill>
            <a:srgbClr val="28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1947672"/>
            <a:ext cx="198424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2. Predict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359152"/>
            <a:ext cx="1938527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Random Forest estimates mean power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Decision uses predicted power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828800"/>
            <a:ext cx="2331720" cy="1572768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45936" y="1847088"/>
            <a:ext cx="68580" cy="1536192"/>
          </a:xfrm>
          <a:prstGeom prst="rect">
            <a:avLst/>
          </a:prstGeom>
          <a:solidFill>
            <a:srgbClr val="EF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1947672"/>
            <a:ext cx="198424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3. Apply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359152"/>
            <a:ext cx="1938527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10 kW example budget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4 execution slots; 25 W reserve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331720" cy="1572768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847088"/>
            <a:ext cx="68580" cy="1536192"/>
          </a:xfrm>
          <a:prstGeom prst="rect">
            <a:avLst/>
          </a:prstGeom>
          <a:solidFill>
            <a:srgbClr val="0A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36608" y="1947672"/>
            <a:ext cx="198424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4. Select workloads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359152"/>
            <a:ext cx="1938527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Lowest predicted power first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Admit only if budget and slot fit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71800" y="2596896"/>
            <a:ext cx="374903" cy="0"/>
          </a:xfrm>
          <a:prstGeom prst="line">
            <a:avLst/>
          </a:prstGeom>
          <a:ln w="25400">
            <a:solidFill>
              <a:srgbClr val="EF9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61304" y="2596896"/>
            <a:ext cx="374904" cy="0"/>
          </a:xfrm>
          <a:prstGeom prst="line">
            <a:avLst/>
          </a:prstGeom>
          <a:ln w="25400">
            <a:solidFill>
              <a:srgbClr val="EF9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50808" y="2596896"/>
            <a:ext cx="374904" cy="0"/>
          </a:xfrm>
          <a:prstGeom prst="line">
            <a:avLst/>
          </a:prstGeom>
          <a:ln w="25400">
            <a:solidFill>
              <a:srgbClr val="EF97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" y="3730752"/>
            <a:ext cx="10899648" cy="713232"/>
          </a:xfrm>
          <a:prstGeom prst="roundRect">
            <a:avLst/>
          </a:prstGeom>
          <a:solidFill>
            <a:srgbClr val="15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922776"/>
            <a:ext cx="10469880" cy="2523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Key rule: </a:t>
            </a:r>
            <a:r>
              <a:rPr lang="en-IN" dirty="0"/>
              <a:t>M</a:t>
            </a:r>
            <a:r>
              <a:rPr dirty="0" err="1"/>
              <a:t>ake</a:t>
            </a:r>
            <a:r>
              <a:rPr dirty="0"/>
              <a:t> scheduling decisions using predicted power; use measured power afterward to evaluate outcomes.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81728"/>
            <a:ext cx="5285232" cy="1143000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4700016"/>
            <a:ext cx="68580" cy="1106424"/>
          </a:xfrm>
          <a:prstGeom prst="rect">
            <a:avLst/>
          </a:prstGeom>
          <a:solidFill>
            <a:srgbClr val="0A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" y="4800600"/>
            <a:ext cx="49377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Why use power-aware selection?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212080"/>
            <a:ext cx="48920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Avoids blindly filling slots when predicted combined demand may exceed the budget.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4681728"/>
            <a:ext cx="5358384" cy="1143000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99632" y="4700016"/>
            <a:ext cx="68580" cy="1106424"/>
          </a:xfrm>
          <a:prstGeom prst="rect">
            <a:avLst/>
          </a:prstGeom>
          <a:solidFill>
            <a:srgbClr val="EF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800600"/>
            <a:ext cx="501091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Scope of this experiment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212080"/>
            <a:ext cx="49651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A deterministic simulation heuristic—not a production scheduler or a proven optimal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2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700" b="1">
                <a:solidFill>
                  <a:srgbClr val="15314B"/>
                </a:solidFill>
                <a:latin typeface="Aptos"/>
              </a:defRPr>
            </a:pPr>
            <a:r>
              <a:rPr dirty="0"/>
              <a:t>Scheduler evaluation: </a:t>
            </a:r>
            <a:r>
              <a:rPr lang="en-IN" dirty="0"/>
              <a:t>P</a:t>
            </a:r>
            <a:r>
              <a:rPr dirty="0" err="1"/>
              <a:t>ower</a:t>
            </a:r>
            <a:r>
              <a:rPr dirty="0"/>
              <a:t>, </a:t>
            </a:r>
            <a:r>
              <a:rPr lang="en-IN" dirty="0"/>
              <a:t>H</a:t>
            </a:r>
            <a:r>
              <a:rPr dirty="0" err="1"/>
              <a:t>eadroom</a:t>
            </a:r>
            <a:r>
              <a:rPr dirty="0"/>
              <a:t> and </a:t>
            </a:r>
            <a:r>
              <a:rPr lang="en-IN" dirty="0"/>
              <a:t>B</a:t>
            </a:r>
            <a:r>
              <a:rPr dirty="0" err="1"/>
              <a:t>udget</a:t>
            </a:r>
            <a:r>
              <a:rPr dirty="0"/>
              <a:t> </a:t>
            </a:r>
            <a:r>
              <a:rPr lang="en-IN" dirty="0"/>
              <a:t>C</a:t>
            </a:r>
            <a:r>
              <a:rPr dirty="0" err="1"/>
              <a:t>ompliance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024128" cy="50292"/>
          </a:xfrm>
          <a:prstGeom prst="rect">
            <a:avLst/>
          </a:prstGeom>
          <a:solidFill>
            <a:srgbClr val="EF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9728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5E6C77"/>
                </a:solidFill>
                <a:latin typeface="Aptos"/>
              </a:defRPr>
            </a:pPr>
            <a:r>
              <a:t>Illustrative results from the 364-row held-out test set under hypothetical infrastructure 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0">
                <a:solidFill>
                  <a:srgbClr val="5E6C7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520440" cy="1481328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27048"/>
            <a:ext cx="68580" cy="1444752"/>
          </a:xfrm>
          <a:prstGeom prst="rect">
            <a:avLst/>
          </a:prstGeom>
          <a:solidFill>
            <a:srgbClr val="0A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627631"/>
            <a:ext cx="317296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Same workload count at 10 kW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39112"/>
            <a:ext cx="31272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Both strategies schedule 4 workloads.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FCFS actual power: 9,976 W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Power-aware actual power: 8,089 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508760"/>
            <a:ext cx="3520440" cy="1481328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5112" y="1527048"/>
            <a:ext cx="68580" cy="1444752"/>
          </a:xfrm>
          <a:prstGeom prst="rect">
            <a:avLst/>
          </a:prstGeom>
          <a:solidFill>
            <a:srgbClr val="EF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627631"/>
            <a:ext cx="317296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1.89 kW lower actual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039112"/>
            <a:ext cx="31272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Reduction: 1,887 W (18.92%).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Observed in this 10 kW scenario.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Simulation result—not production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508760"/>
            <a:ext cx="3520440" cy="1481328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527048"/>
            <a:ext cx="68580" cy="1444752"/>
          </a:xfrm>
          <a:prstGeom prst="rect">
            <a:avLst/>
          </a:prstGeom>
          <a:solidFill>
            <a:srgbClr val="28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1627631"/>
            <a:ext cx="3172968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More capacity headroom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039112"/>
            <a:ext cx="31272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FCFS headroom: ~24 W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Power-aware headroom: ~1,911 W</a:t>
            </a:r>
          </a:p>
          <a:p>
            <a:pPr>
              <a:spcAft>
                <a:spcPts val="500"/>
              </a:spcAft>
              <a:defRPr sz="1050">
                <a:solidFill>
                  <a:srgbClr val="233442"/>
                </a:solidFill>
                <a:latin typeface="Aptos"/>
              </a:defRPr>
            </a:pPr>
            <a:r>
              <a:t>Measured power evaluates the result.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82112"/>
            <a:ext cx="548640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600" b="1">
                <a:solidFill>
                  <a:srgbClr val="15314B"/>
                </a:solidFill>
                <a:latin typeface="Aptos"/>
              </a:defRPr>
            </a:pPr>
            <a:r>
              <a:t>What changes as the budget tightens?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66160"/>
            <a:ext cx="1417320" cy="512064"/>
          </a:xfrm>
          <a:prstGeom prst="rect">
            <a:avLst/>
          </a:prstGeom>
          <a:solidFill>
            <a:srgbClr val="1531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3685032"/>
            <a:ext cx="134416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Power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75688" y="3566160"/>
            <a:ext cx="1965960" cy="512064"/>
          </a:xfrm>
          <a:prstGeom prst="rect">
            <a:avLst/>
          </a:prstGeom>
          <a:solidFill>
            <a:srgbClr val="1531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12264" y="3685032"/>
            <a:ext cx="1892807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FCFS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3566160"/>
            <a:ext cx="2057400" cy="512064"/>
          </a:xfrm>
          <a:prstGeom prst="rect">
            <a:avLst/>
          </a:prstGeom>
          <a:solidFill>
            <a:srgbClr val="1531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78224" y="3685032"/>
            <a:ext cx="198424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Power-aware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9048" y="3566160"/>
            <a:ext cx="4709160" cy="512064"/>
          </a:xfrm>
          <a:prstGeom prst="rect">
            <a:avLst/>
          </a:prstGeom>
          <a:solidFill>
            <a:srgbClr val="1531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35624" y="3685032"/>
            <a:ext cx="46360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078224"/>
            <a:ext cx="1417320" cy="512064"/>
          </a:xfrm>
          <a:prstGeom prst="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4151376"/>
            <a:ext cx="1325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1">
                <a:solidFill>
                  <a:srgbClr val="233442"/>
                </a:solidFill>
                <a:latin typeface="Aptos"/>
              </a:defRPr>
            </a:pPr>
            <a:r>
              <a:t>8 kW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5688" y="4078224"/>
            <a:ext cx="1965960" cy="512064"/>
          </a:xfrm>
          <a:prstGeom prst="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21408" y="4151376"/>
            <a:ext cx="18745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0">
                <a:solidFill>
                  <a:srgbClr val="233442"/>
                </a:solidFill>
                <a:latin typeface="Aptos"/>
              </a:defRPr>
            </a:pPr>
            <a:r>
              <a:t>4 workloads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41648" y="4078224"/>
            <a:ext cx="2057400" cy="512064"/>
          </a:xfrm>
          <a:prstGeom prst="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87368" y="4151376"/>
            <a:ext cx="19659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0">
                <a:solidFill>
                  <a:srgbClr val="233442"/>
                </a:solidFill>
                <a:latin typeface="Aptos"/>
              </a:defRPr>
            </a:pPr>
            <a:r>
              <a:t>3 workloads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8" y="4078224"/>
            <a:ext cx="4709160" cy="512064"/>
          </a:xfrm>
          <a:prstGeom prst="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44768" y="4151376"/>
            <a:ext cx="4617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19" b="0">
                <a:solidFill>
                  <a:srgbClr val="233442"/>
                </a:solidFill>
                <a:latin typeface="Aptos"/>
              </a:defRPr>
            </a:pPr>
            <a:r>
              <a:t>Power-aware stays within budget; FCFS is not budget-aware.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590288"/>
            <a:ext cx="1417320" cy="512064"/>
          </a:xfrm>
          <a:prstGeom prst="rect">
            <a:avLst/>
          </a:prstGeom>
          <a:solidFill>
            <a:srgbClr val="FAFCFD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" y="4663440"/>
            <a:ext cx="1325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1">
                <a:solidFill>
                  <a:srgbClr val="233442"/>
                </a:solidFill>
                <a:latin typeface="Aptos"/>
              </a:defRPr>
            </a:pPr>
            <a:r>
              <a:t>9 kW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75688" y="4590288"/>
            <a:ext cx="1965960" cy="512064"/>
          </a:xfrm>
          <a:prstGeom prst="rect">
            <a:avLst/>
          </a:prstGeom>
          <a:solidFill>
            <a:srgbClr val="FAFCFD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21408" y="4663440"/>
            <a:ext cx="18745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0">
                <a:solidFill>
                  <a:srgbClr val="233442"/>
                </a:solidFill>
                <a:latin typeface="Aptos"/>
              </a:defRPr>
            </a:pPr>
            <a:r>
              <a:t>Budget exceeded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41648" y="4590288"/>
            <a:ext cx="2057400" cy="512064"/>
          </a:xfrm>
          <a:prstGeom prst="rect">
            <a:avLst/>
          </a:prstGeom>
          <a:solidFill>
            <a:srgbClr val="FAFCFD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87368" y="4663440"/>
            <a:ext cx="19659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0">
                <a:solidFill>
                  <a:srgbClr val="233442"/>
                </a:solidFill>
                <a:latin typeface="Aptos"/>
              </a:defRPr>
            </a:pPr>
            <a:r>
              <a:t>4 within budget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9048" y="4590288"/>
            <a:ext cx="4709160" cy="512064"/>
          </a:xfrm>
          <a:prstGeom prst="rect">
            <a:avLst/>
          </a:prstGeom>
          <a:solidFill>
            <a:srgbClr val="FAFCFD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44768" y="4663440"/>
            <a:ext cx="4617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19" b="0">
                <a:solidFill>
                  <a:srgbClr val="233442"/>
                </a:solidFill>
                <a:latin typeface="Aptos"/>
              </a:defRPr>
            </a:pPr>
            <a:r>
              <a:t>Power-aware selection fits the budget in this scenario.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102352"/>
            <a:ext cx="1417320" cy="512064"/>
          </a:xfrm>
          <a:prstGeom prst="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" y="5175504"/>
            <a:ext cx="13258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1">
                <a:solidFill>
                  <a:srgbClr val="233442"/>
                </a:solidFill>
                <a:latin typeface="Aptos"/>
              </a:defRPr>
            </a:pPr>
            <a:r>
              <a:t>10 kW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5102352"/>
            <a:ext cx="1965960" cy="512064"/>
          </a:xfrm>
          <a:prstGeom prst="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21408" y="5175504"/>
            <a:ext cx="1874519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0">
                <a:solidFill>
                  <a:srgbClr val="233442"/>
                </a:solidFill>
                <a:latin typeface="Aptos"/>
              </a:defRPr>
            </a:pPr>
            <a:r>
              <a:t>4; ~24 W headroom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41648" y="5102352"/>
            <a:ext cx="2057400" cy="512064"/>
          </a:xfrm>
          <a:prstGeom prst="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087368" y="5175504"/>
            <a:ext cx="19659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919" b="0">
                <a:solidFill>
                  <a:srgbClr val="233442"/>
                </a:solidFill>
                <a:latin typeface="Aptos"/>
              </a:defRPr>
            </a:pPr>
            <a:r>
              <a:t>4; ~1.91 kW headroom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9048" y="5102352"/>
            <a:ext cx="4709160" cy="512064"/>
          </a:xfrm>
          <a:prstGeom prst="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44768" y="5175504"/>
            <a:ext cx="4617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919" b="0">
                <a:solidFill>
                  <a:srgbClr val="233442"/>
                </a:solidFill>
                <a:latin typeface="Aptos"/>
              </a:defRPr>
            </a:pPr>
            <a:r>
              <a:t>Same workload count, substantially more headroom.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" y="5687568"/>
            <a:ext cx="1088136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0">
                <a:solidFill>
                  <a:srgbClr val="5E6C77"/>
                </a:solidFill>
                <a:latin typeface="Aptos"/>
              </a:defRPr>
            </a:pPr>
            <a:r>
              <a:t>Interpretation: promising simulation evidence for improved budget compliance and headroom. Results depend on this candidate set and heuristic; validate across repeated arrival batches before making broader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46888"/>
            <a:ext cx="11155680" cy="452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700" b="1">
                <a:solidFill>
                  <a:srgbClr val="15314B"/>
                </a:solidFill>
                <a:latin typeface="Aptos Display"/>
              </a:defRPr>
            </a:pPr>
            <a:r>
              <a:rPr dirty="0"/>
              <a:t>Future work: </a:t>
            </a:r>
            <a:r>
              <a:rPr lang="en-IN" dirty="0"/>
              <a:t>C</a:t>
            </a:r>
            <a:r>
              <a:rPr dirty="0" err="1"/>
              <a:t>omposition</a:t>
            </a:r>
            <a:r>
              <a:rPr dirty="0"/>
              <a:t>-</a:t>
            </a:r>
            <a:r>
              <a:rPr lang="en-IN" dirty="0"/>
              <a:t>A</a:t>
            </a:r>
            <a:r>
              <a:rPr dirty="0"/>
              <a:t>ware uncertainty reservation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024128" cy="50292"/>
          </a:xfrm>
          <a:prstGeom prst="rect">
            <a:avLst/>
          </a:prstGeom>
          <a:solidFill>
            <a:srgbClr val="EF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0">
                <a:solidFill>
                  <a:srgbClr val="5E6C77"/>
                </a:solidFill>
                <a:latin typeface="Aptos"/>
              </a:defRPr>
            </a:pPr>
            <a:r>
              <a:t>Move beyond job-count reserves to workload-specific power safety margins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0972800" cy="713232"/>
          </a:xfrm>
          <a:prstGeom prst="roundRect">
            <a:avLst/>
          </a:prstGeom>
          <a:solidFill>
            <a:srgbClr val="153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73352"/>
            <a:ext cx="1051560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CURRENT LIMITATION  |  Reserve depends on concurrency count, not workload composition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06040"/>
            <a:ext cx="265176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2624328"/>
            <a:ext cx="64008" cy="1380744"/>
          </a:xfrm>
          <a:prstGeom prst="rect">
            <a:avLst/>
          </a:prstGeom>
          <a:solidFill>
            <a:srgbClr val="0A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752344"/>
            <a:ext cx="235915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1. Workload 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09544"/>
            <a:ext cx="2359152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63644"/>
                </a:solidFill>
                <a:latin typeface="Aptos"/>
              </a:defRPr>
            </a:pPr>
            <a:r>
              <a:t>Which workload types run together?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606040"/>
            <a:ext cx="265176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1568" y="2624328"/>
            <a:ext cx="64008" cy="1380744"/>
          </a:xfrm>
          <a:prstGeom prst="rect">
            <a:avLst/>
          </a:prstGeom>
          <a:solidFill>
            <a:srgbClr val="28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752344"/>
            <a:ext cx="235915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2.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9544"/>
            <a:ext cx="2359152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63644"/>
                </a:solidFill>
                <a:latin typeface="Aptos"/>
              </a:defRPr>
            </a:pPr>
            <a:r>
              <a:t>Batch size, request rate, output length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606040"/>
            <a:ext cx="265176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1344" y="2624328"/>
            <a:ext cx="64008" cy="1380744"/>
          </a:xfrm>
          <a:prstGeom prst="rect">
            <a:avLst/>
          </a:prstGeom>
          <a:solidFill>
            <a:srgbClr val="EF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2752344"/>
            <a:ext cx="235915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3. Prediction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209544"/>
            <a:ext cx="2359152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63644"/>
                </a:solidFill>
                <a:latin typeface="Aptos"/>
              </a:defRPr>
            </a:pPr>
            <a:r>
              <a:t>Power estimates and residual variation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606040"/>
            <a:ext cx="260604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1120" y="2624328"/>
            <a:ext cx="64008" cy="1380744"/>
          </a:xfrm>
          <a:prstGeom prst="rect">
            <a:avLst/>
          </a:prstGeom>
          <a:solidFill>
            <a:srgbClr val="0A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25712" y="2752344"/>
            <a:ext cx="2313432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15314B"/>
                </a:solidFill>
                <a:latin typeface="Aptos"/>
              </a:defRPr>
            </a:pPr>
            <a:r>
              <a:t>4. Concurrency effects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209544"/>
            <a:ext cx="2313432" cy="6217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50" b="0">
                <a:solidFill>
                  <a:srgbClr val="263644"/>
                </a:solidFill>
                <a:latin typeface="Aptos"/>
              </a:defRPr>
            </a:pPr>
            <a:r>
              <a:t>How combined workloads affect aggregate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096512"/>
            <a:ext cx="914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500" b="1">
                <a:solidFill>
                  <a:srgbClr val="EF9735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462272"/>
            <a:ext cx="10149840" cy="749808"/>
          </a:xfrm>
          <a:prstGeom prst="roundRect">
            <a:avLst/>
          </a:prstGeom>
          <a:solidFill>
            <a:srgbClr val="E7F4F2"/>
          </a:solidFill>
          <a:ln>
            <a:solidFill>
              <a:srgbClr val="C2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34440" y="4636008"/>
            <a:ext cx="969264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700" b="1">
                <a:solidFill>
                  <a:srgbClr val="0A8B84"/>
                </a:solidFill>
                <a:latin typeface="Aptos"/>
              </a:defRPr>
            </a:pPr>
            <a:r>
              <a:t>Estimate a dynamic safety margin for the selected workload combination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13248"/>
            <a:ext cx="5349240" cy="804672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5431536"/>
            <a:ext cx="64008" cy="768096"/>
          </a:xfrm>
          <a:prstGeom prst="rect">
            <a:avLst/>
          </a:prstGeom>
          <a:solidFill>
            <a:srgbClr val="0A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5504688"/>
            <a:ext cx="5074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5314B"/>
                </a:solidFill>
                <a:latin typeface="Aptos"/>
              </a:defRPr>
            </a:pPr>
            <a:r>
              <a:t>INTENDED BENEFIT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806440"/>
            <a:ext cx="5074920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263644"/>
                </a:solidFill>
                <a:latin typeface="Aptos"/>
              </a:defRPr>
            </a:pPr>
            <a:r>
              <a:t>Reduce budget-overrun risk without reserving more headroom than necessary.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5413248"/>
            <a:ext cx="5349240" cy="804672"/>
          </a:xfrm>
          <a:prstGeom prst="roundRect">
            <a:avLst/>
          </a:prstGeom>
          <a:solidFill>
            <a:srgbClr val="F1F6F9"/>
          </a:solidFill>
          <a:ln>
            <a:solidFill>
              <a:srgbClr val="DB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99632" y="5431536"/>
            <a:ext cx="64008" cy="768096"/>
          </a:xfrm>
          <a:prstGeom prst="rect">
            <a:avLst/>
          </a:prstGeom>
          <a:solidFill>
            <a:srgbClr val="EF9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64224" y="5504688"/>
            <a:ext cx="50749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15314B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5806440"/>
            <a:ext cx="5074920" cy="37490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50" b="0">
                <a:solidFill>
                  <a:srgbClr val="263644"/>
                </a:solidFill>
                <a:latin typeface="Aptos"/>
              </a:defRPr>
            </a:pPr>
            <a:r>
              <a:t>Preliminary simulations are promising; validate across diverse workload mixes and operating conditions.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473952"/>
            <a:ext cx="32004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0">
                <a:solidFill>
                  <a:srgbClr val="5E6C77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1104</Words>
  <Application>Microsoft Office PowerPoint</Application>
  <PresentationFormat>Widescreen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George Asirvatharaj</cp:lastModifiedBy>
  <cp:revision>13</cp:revision>
  <dcterms:created xsi:type="dcterms:W3CDTF">2013-01-27T09:14:16Z</dcterms:created>
  <dcterms:modified xsi:type="dcterms:W3CDTF">2026-10-19T15:12:58Z</dcterms:modified>
  <cp:category/>
</cp:coreProperties>
</file>